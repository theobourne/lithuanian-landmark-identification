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40" r:id="rId2"/>
    <p:sldMasterId id="2147483707" r:id="rId3"/>
  </p:sldMasterIdLst>
  <p:notesMasterIdLst>
    <p:notesMasterId r:id="rId14"/>
  </p:notesMasterIdLst>
  <p:handoutMasterIdLst>
    <p:handoutMasterId r:id="rId15"/>
  </p:handoutMasterIdLst>
  <p:sldIdLst>
    <p:sldId id="256" r:id="rId4"/>
    <p:sldId id="257" r:id="rId5"/>
    <p:sldId id="259" r:id="rId6"/>
    <p:sldId id="260" r:id="rId7"/>
    <p:sldId id="261" r:id="rId8"/>
    <p:sldId id="262" r:id="rId9"/>
    <p:sldId id="265" r:id="rId10"/>
    <p:sldId id="258" r:id="rId11"/>
    <p:sldId id="264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E"/>
    <a:srgbClr val="E7E6E6"/>
    <a:srgbClr val="807F80"/>
    <a:srgbClr val="A5A6A6"/>
    <a:srgbClr val="585858"/>
    <a:srgbClr val="AAAAAA"/>
    <a:srgbClr val="929292"/>
    <a:srgbClr val="FFFF00"/>
    <a:srgbClr val="F1F2F2"/>
    <a:srgbClr val="F9F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6959"/>
  </p:normalViewPr>
  <p:slideViewPr>
    <p:cSldViewPr snapToGrid="0" snapToObjects="1" showGuides="1">
      <p:cViewPr varScale="1">
        <p:scale>
          <a:sx n="78" d="100"/>
          <a:sy n="78" d="100"/>
        </p:scale>
        <p:origin x="715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 dirty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CHART TITLE</a:t>
            </a:r>
          </a:p>
        </c:rich>
      </c:tx>
      <c:layout>
        <c:manualLayout>
          <c:xMode val="edge"/>
          <c:yMode val="edge"/>
          <c:x val="0.4125591670014578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bg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9F9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86-7743-A8E3-CB06C727B3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86-7743-A8E3-CB06C727B3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86-7743-A8E3-CB06C727B3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54763968"/>
        <c:axId val="571192768"/>
      </c:barChart>
      <c:catAx>
        <c:axId val="1154763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571192768"/>
        <c:crosses val="autoZero"/>
        <c:auto val="1"/>
        <c:lblAlgn val="ctr"/>
        <c:lblOffset val="100"/>
        <c:noMultiLvlLbl val="0"/>
      </c:catAx>
      <c:valAx>
        <c:axId val="571192768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6E6E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1154763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552552523746062"/>
          <c:y val="0.93412845896881036"/>
          <c:w val="0.40894878693928838"/>
          <c:h val="6.58715410311895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 dirty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SALES</a:t>
            </a:r>
          </a:p>
        </c:rich>
      </c:tx>
      <c:layout>
        <c:manualLayout>
          <c:xMode val="edge"/>
          <c:yMode val="edge"/>
          <c:x val="0.4031579225872410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54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FFFF00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AE5-BC47-8800-5A9F6026E152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AE5-BC47-8800-5A9F6026E152}"/>
              </c:ext>
            </c:extLst>
          </c:dPt>
          <c:dPt>
            <c:idx val="2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AE5-BC47-8800-5A9F6026E152}"/>
              </c:ext>
            </c:extLst>
          </c:dPt>
          <c:dPt>
            <c:idx val="3"/>
            <c:bubble3D val="0"/>
            <c:spPr>
              <a:solidFill>
                <a:schemeClr val="bg2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AE5-BC47-8800-5A9F6026E152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65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E5-BC47-8800-5A9F6026E1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2155787985527038E-2"/>
          <c:y val="0.92494248187899974"/>
          <c:w val="0.81568842402894592"/>
          <c:h val="7.50575181210002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CHART TITLE</a:t>
            </a:r>
          </a:p>
        </c:rich>
      </c:tx>
      <c:layout>
        <c:manualLayout>
          <c:xMode val="edge"/>
          <c:yMode val="edge"/>
          <c:x val="0.4125591670014578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9F9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4B-6C47-972A-B110C8D37B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4B-6C47-972A-B110C8D37B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4B-6C47-972A-B110C8D37B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54763968"/>
        <c:axId val="571192768"/>
      </c:barChart>
      <c:catAx>
        <c:axId val="1154763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571192768"/>
        <c:crosses val="autoZero"/>
        <c:auto val="1"/>
        <c:lblAlgn val="ctr"/>
        <c:lblOffset val="100"/>
        <c:noMultiLvlLbl val="0"/>
      </c:catAx>
      <c:valAx>
        <c:axId val="571192768"/>
        <c:scaling>
          <c:orientation val="minMax"/>
        </c:scaling>
        <c:delete val="0"/>
        <c:axPos val="l"/>
        <c:majorGridlines>
          <c:spPr>
            <a:ln w="15875" cap="flat" cmpd="sng" algn="ctr">
              <a:solidFill>
                <a:srgbClr val="E6E6E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1154763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552552523746062"/>
          <c:y val="0.93412845896881036"/>
          <c:w val="0.40894878693928838"/>
          <c:h val="6.58715410311895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SALES</a:t>
            </a:r>
          </a:p>
        </c:rich>
      </c:tx>
      <c:layout>
        <c:manualLayout>
          <c:xMode val="edge"/>
          <c:yMode val="edge"/>
          <c:x val="0.4031579225872410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54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FFFF00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8E-CD47-A703-74F3E808FEB0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98E-CD47-A703-74F3E808FEB0}"/>
              </c:ext>
            </c:extLst>
          </c:dPt>
          <c:dPt>
            <c:idx val="2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98E-CD47-A703-74F3E808FEB0}"/>
              </c:ext>
            </c:extLst>
          </c:dPt>
          <c:dPt>
            <c:idx val="3"/>
            <c:bubble3D val="0"/>
            <c:spPr>
              <a:solidFill>
                <a:schemeClr val="bg2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98E-CD47-A703-74F3E808FEB0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65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98E-CD47-A703-74F3E808F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2155787985527038E-2"/>
          <c:y val="0.92494248187899974"/>
          <c:w val="0.81568842402894592"/>
          <c:h val="7.50575181210002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8C3969-9E63-A345-BB21-C4F80F17B8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AFF04-979D-ED46-A90F-3C0B9D5964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77756-703A-4C45-96D0-2261A4FADC5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A9E3F-2800-654D-A508-43B1B8C345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DB950-E412-6D41-986A-A4F7198885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AD6D8-DF40-6D42-973A-CD331A9D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097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A7845-6E42-A54B-BDCA-C3518250E7B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41982-9C9C-C141-8575-EDABC034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4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62B305F-E454-6A49-BE5A-20AC4E248E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2355" y="5837238"/>
            <a:ext cx="8854531" cy="4000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Subantraštė</a:t>
            </a: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D15DE3A-FC37-F54E-907A-A159B33E94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2355" y="1952625"/>
            <a:ext cx="8854531" cy="353452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61843-38B4-D148-99E5-9F4C3E2339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7BC27-E701-EC4E-A29B-BA55A67673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236F9-E2AE-0F43-8E57-369CAB5520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3" r="14257" b="-238517"/>
          <a:stretch/>
        </p:blipFill>
        <p:spPr>
          <a:xfrm>
            <a:off x="0" y="958421"/>
            <a:ext cx="10453816" cy="1289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80B7D9-02D2-AC4C-8368-6F07A5A2E8F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93495" y="858795"/>
            <a:ext cx="1104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35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inė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141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ulinė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147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6921" y="424809"/>
            <a:ext cx="862883" cy="983770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6D6B95C-B687-614F-8DA6-5031F96661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3221" y="1960510"/>
            <a:ext cx="6975279" cy="4276777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10000"/>
              </a:lnSpc>
              <a:spcBef>
                <a:spcPts val="1200"/>
              </a:spcBef>
              <a:buClr>
                <a:srgbClr val="FFFF00"/>
              </a:buClr>
              <a:buFont typeface="+mj-lt"/>
              <a:buAutoNum type="arabicPeriod"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Antraštė</a:t>
            </a:r>
            <a:endParaRPr lang="en-US" dirty="0"/>
          </a:p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5D01418-F6D6-EA49-BF7F-FFFFA2FDDC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13221" y="600737"/>
            <a:ext cx="8037512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Turinys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68C0BA-DBA4-9E4F-97DF-579214DE10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46472" y="0"/>
            <a:ext cx="190500" cy="6858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D862C0A-2BED-074B-8AF0-3A7D2789C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-1604416" y="3603891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AF8862B-96D5-3A40-B92F-BAC6CDE874C0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229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731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yrius_Vienas skaiči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861843-38B4-D148-99E5-9F4C3E2339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892914-F5A9-F642-B52A-C75D04F092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40052" y="0"/>
            <a:ext cx="381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4D699B-062F-E34A-B8AF-6AF33D54CB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119640" t="58032" r="-170830" b="390"/>
          <a:stretch/>
        </p:blipFill>
        <p:spPr>
          <a:xfrm rot="5400000">
            <a:off x="1351336" y="52466"/>
            <a:ext cx="148773" cy="2851446"/>
          </a:xfrm>
          <a:prstGeom prst="rect">
            <a:avLst/>
          </a:prstGeom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24758FE-FB03-7945-8489-CE74EBB534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67098" y="3668711"/>
            <a:ext cx="6222494" cy="27240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7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E61C04-401B-A548-95BE-432EEC7539D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373481" y="1329925"/>
            <a:ext cx="1104900" cy="254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3BDE46-B3FD-934A-954D-8ED9ABBD06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ABD1B-A1CE-B243-B0AE-AFA3DF058648}"/>
              </a:ext>
            </a:extLst>
          </p:cNvPr>
          <p:cNvSpPr txBox="1"/>
          <p:nvPr userDrawn="1"/>
        </p:nvSpPr>
        <p:spPr>
          <a:xfrm>
            <a:off x="3467098" y="1289465"/>
            <a:ext cx="46048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T" sz="1500" b="1" i="0" dirty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0045096-48AE-2F45-81DE-246F7A97BA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373722"/>
            <a:ext cx="2828658" cy="3222561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 algn="ctr">
              <a:buNone/>
              <a:defRPr sz="26000" b="1" i="0">
                <a:ln w="19050">
                  <a:solidFill>
                    <a:schemeClr val="bg1"/>
                  </a:solidFill>
                </a:ln>
                <a:noFill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64796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yrius_Du skaičia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861843-38B4-D148-99E5-9F4C3E2339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55EE49-EA86-604D-B79E-1835648D43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254768" t="1" r="-836988" b="29251"/>
          <a:stretch/>
        </p:blipFill>
        <p:spPr>
          <a:xfrm rot="5400000">
            <a:off x="2198923" y="-847734"/>
            <a:ext cx="454047" cy="48518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892914-F5A9-F642-B52A-C75D04F092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32844" y="0"/>
            <a:ext cx="381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8C8245-A0B5-4343-A773-99B1AC5A1C1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78535" y="1329925"/>
            <a:ext cx="1104900" cy="254000"/>
          </a:xfrm>
          <a:prstGeom prst="rect">
            <a:avLst/>
          </a:prstGeom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24758FE-FB03-7945-8489-CE74EBB534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7810" y="3668711"/>
            <a:ext cx="4361134" cy="27240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7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0FA2AC1-A86F-6246-9CF6-463924E7F5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500F5A-81CA-2F4B-BDD4-88D7FC1AE05F}"/>
              </a:ext>
            </a:extLst>
          </p:cNvPr>
          <p:cNvSpPr txBox="1"/>
          <p:nvPr userDrawn="1"/>
        </p:nvSpPr>
        <p:spPr>
          <a:xfrm>
            <a:off x="5477810" y="1289465"/>
            <a:ext cx="46048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T" sz="1500" b="1" i="0" dirty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6224EDB-B787-DE4E-BE6F-8D8484097F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373722"/>
            <a:ext cx="4832844" cy="3222561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 algn="ctr">
              <a:buNone/>
              <a:defRPr sz="26000" b="1" i="0">
                <a:ln w="19050">
                  <a:solidFill>
                    <a:schemeClr val="bg1"/>
                  </a:solidFill>
                </a:ln>
                <a:noFill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744837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_Šūkis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CD1856C-F327-BF49-A715-D3258E845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7DEC24-8D93-6D48-A79C-7BDDFFA2B1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13890" y="0"/>
            <a:ext cx="38100" cy="6858000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D1AB869-1A97-C74F-B22C-8C4A3C8553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3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015AA5-A63A-AA42-ACD1-300F08FBDC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-1" r="9663" b="-12809"/>
          <a:stretch/>
        </p:blipFill>
        <p:spPr>
          <a:xfrm>
            <a:off x="0" y="1356723"/>
            <a:ext cx="11013890" cy="214901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4B86B12-DA76-274D-9D4F-46D64739DB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87BF503-4657-4144-AE5A-7FC3C4A846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Antraštė 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10A3938-1C5A-734A-9AEB-AA2A81156F6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14565" y="696317"/>
            <a:ext cx="590984" cy="318475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EE7EFB9-58EC-4E46-B135-D34F2910C588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424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_Šūkis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CD1856C-F327-BF49-A715-D3258E845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D1AB869-1A97-C74F-B22C-8C4A3C8553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300" b="1" i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4B86B12-DA76-274D-9D4F-46D64739DB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87BF503-4657-4144-AE5A-7FC3C4A846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Antraštė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028207-03C6-EB4F-8087-70DFE414C3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B3520C-4886-5844-B632-0EFDEEFA04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BDCAF9-A99D-AB48-B61A-DEA4A9FF6C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1705FAF-CC62-BB49-B817-BC45A057FA08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57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CD1856C-F327-BF49-A715-D3258E845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8978606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4B86B12-DA76-274D-9D4F-46D64739DB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87BF503-4657-4144-AE5A-7FC3C4A846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Antraštė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C3A560-9403-BC49-A5F7-C015081D15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51225"/>
            <a:ext cx="12192000" cy="190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36B143-6BE1-0541-83D6-F872266723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3044" y="696317"/>
            <a:ext cx="590984" cy="318475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E81F693-50CC-E74A-92F2-28556691589B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28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CD1856C-F327-BF49-A715-D3258E845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8978606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4B86B12-DA76-274D-9D4F-46D64739DB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87BF503-4657-4144-AE5A-7FC3C4A846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Antraštė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6F165C-7173-9B41-9B41-5FC5C0B7D5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51225"/>
            <a:ext cx="12192000" cy="190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47D6DC-D91B-A144-80BE-9E55BF0FD1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3222" y="696316"/>
            <a:ext cx="590985" cy="318475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D405FBB-9895-7146-BF23-12D1784B464A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462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as_Dvi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D8A384-C846-7641-BEB4-42006FEB5447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F497E261-9388-AC42-BFA8-252592EA0D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5FF6581-2E75-F54C-AC74-4CFB30823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2E6D4784-2EA3-C74A-80A6-6E53A3459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592035A-2271-5843-9AF4-E3E9FDCF01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EC282FF-8A8E-4743-8FE6-0CBA9BBA69B5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437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as_Dvi dal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D8A384-C846-7641-BEB4-42006FEB5447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F497E261-9388-AC42-BFA8-252592EA0D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5FF6581-2E75-F54C-AC74-4CFB30823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2E6D4784-2EA3-C74A-80A6-6E53A3459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592035A-2271-5843-9AF4-E3E9FDCF01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83568EC-B77A-0E4D-9628-B5B410A3918A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394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as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224FEE-B2A5-5B45-808C-F0B694341654}"/>
              </a:ext>
            </a:extLst>
          </p:cNvPr>
          <p:cNvSpPr/>
          <p:nvPr userDrawn="1"/>
        </p:nvSpPr>
        <p:spPr>
          <a:xfrm>
            <a:off x="6096001" y="1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B72BBEF3-610E-084B-8035-69D7E509C5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4E145C-81F0-8344-8DEA-9501D7BD7159}"/>
              </a:ext>
            </a:extLst>
          </p:cNvPr>
          <p:cNvSpPr/>
          <p:nvPr userDrawn="1"/>
        </p:nvSpPr>
        <p:spPr>
          <a:xfrm>
            <a:off x="1" y="3429001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3E63EFE9-5010-3C45-ABA3-DB0AF79AC1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</p:spTree>
    <p:extLst>
      <p:ext uri="{BB962C8B-B14F-4D97-AF65-F5344CB8AC3E}">
        <p14:creationId xmlns:p14="http://schemas.microsoft.com/office/powerpoint/2010/main" val="296277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as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04E145C-81F0-8344-8DEA-9501D7BD7159}"/>
              </a:ext>
            </a:extLst>
          </p:cNvPr>
          <p:cNvSpPr/>
          <p:nvPr userDrawn="1"/>
        </p:nvSpPr>
        <p:spPr>
          <a:xfrm>
            <a:off x="1" y="-1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224FEE-B2A5-5B45-808C-F0B694341654}"/>
              </a:ext>
            </a:extLst>
          </p:cNvPr>
          <p:cNvSpPr/>
          <p:nvPr userDrawn="1"/>
        </p:nvSpPr>
        <p:spPr>
          <a:xfrm>
            <a:off x="6096001" y="3428998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B72BBEF3-610E-084B-8035-69D7E509C5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3E63EFE9-5010-3C45-ABA3-DB0AF79AC1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</p:spTree>
    <p:extLst>
      <p:ext uri="{BB962C8B-B14F-4D97-AF65-F5344CB8AC3E}">
        <p14:creationId xmlns:p14="http://schemas.microsoft.com/office/powerpoint/2010/main" val="236036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as_Keturios dal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CE84176-04FD-7E44-80FE-534E00AD68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A2479587-0613-014A-907C-7A6BD40A26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0FAD5EC6-4199-5C46-B4E6-5A8F477342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3654EC9-44A8-5048-83C2-2359A000B8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87ED44B0-B49B-2E43-9448-B9CA2D9A13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</p:spTree>
    <p:extLst>
      <p:ext uri="{BB962C8B-B14F-4D97-AF65-F5344CB8AC3E}">
        <p14:creationId xmlns:p14="http://schemas.microsoft.com/office/powerpoint/2010/main" val="2967530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as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747910-06FD-4846-B37B-91A91EE5B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719F9151-DC16-CE4F-9309-39250B29EA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C502A480-02A7-4745-AB98-DBF6178125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9DD59F3E-D979-E24A-8E0A-3B87A2DA64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F8037D3B-F9E1-394A-A1A9-880049C2F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</p:spTree>
    <p:extLst>
      <p:ext uri="{BB962C8B-B14F-4D97-AF65-F5344CB8AC3E}">
        <p14:creationId xmlns:p14="http://schemas.microsoft.com/office/powerpoint/2010/main" val="1770696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skutin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D15DE3A-FC37-F54E-907A-A159B33E94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2355" y="2909230"/>
            <a:ext cx="8854531" cy="3534526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Q&amp;A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61843-38B4-D148-99E5-9F4C3E2339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7BC27-E701-EC4E-A29B-BA55A67673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236F9-E2AE-0F43-8E57-369CAB5520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3" r="14257" b="-238517"/>
          <a:stretch/>
        </p:blipFill>
        <p:spPr>
          <a:xfrm>
            <a:off x="0" y="958421"/>
            <a:ext cx="10453816" cy="1289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80B7D9-02D2-AC4C-8368-6F07A5A2E8F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93495" y="858795"/>
            <a:ext cx="1104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57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2968082D-F45E-1B49-9FC3-AAC24B3207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62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_Antraštė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0E515E2-7668-514A-A0B4-AC7D06DDB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F302F9B-B4B3-B045-8492-FFC9D53025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49388"/>
            <a:ext cx="12192000" cy="54086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90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_Antraštė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0E515E2-7668-514A-A0B4-AC7D06DDB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F302F9B-B4B3-B045-8492-FFC9D53025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49388"/>
            <a:ext cx="12192000" cy="54086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11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i_Foto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0E515E2-7668-514A-A0B4-AC7D06DDB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10908714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5230BBD-D8AC-0545-A7D5-13382E10E9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177" y="1809749"/>
            <a:ext cx="5181597" cy="43338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0D8EEC7-A4A8-754E-B0D5-1BD7DE8A81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8761" y="1809749"/>
            <a:ext cx="5181597" cy="43338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18BB3B5-113D-8548-9F2F-322C167FD2BE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bg1"/>
              </a:solidFill>
              <a:latin typeface="Inter Semi Bold" panose="020B0502030000000004" pitchFamily="34" charset="0"/>
              <a:ea typeface="Inter Semi Bold" panose="020B0502030000000004" pitchFamily="34" charset="0"/>
              <a:cs typeface="Inter Semi Bold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550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i_Foto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0E515E2-7668-514A-A0B4-AC7D06DDB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10908714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5230BBD-D8AC-0545-A7D5-13382E10E9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177" y="1809749"/>
            <a:ext cx="5181597" cy="43338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0D8EEC7-A4A8-754E-B0D5-1BD7DE8A81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8761" y="1809749"/>
            <a:ext cx="5181597" cy="43338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86F870C-64A2-4745-A31D-1B11AEC206B2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tx1"/>
              </a:solidFill>
              <a:latin typeface="Inter Semi Bold" panose="020B0502030000000004" pitchFamily="34" charset="0"/>
              <a:ea typeface="Inter Semi Bold" panose="020B0502030000000004" pitchFamily="34" charset="0"/>
              <a:cs typeface="Inter Semi Bold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385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_Antraštė_Tekstas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B5F1E7A3-042D-1A41-A4EE-C4B741F2F9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393B77B-8341-1C44-8B13-EC418665B4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87791077-CFD2-474A-ADBD-B95943A9190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1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D9565FE-3CF5-C940-8534-EF27E7FE6B39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432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_Antraštė_Tekstas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2E6D4784-2EA3-C74A-80A6-6E53A3459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592035A-2271-5843-9AF4-E3E9FDCF01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FB2BAA7-03FA-7D45-B48B-16E2EB979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1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960C207-DFB8-7C44-BEFE-3C8BB4B229DC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7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traštė_Tekstas_Foto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FB2BAA7-03FA-7D45-B48B-16E2EB979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6000" y="1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66AC166F-BD2D-6D49-902E-EA2D168F6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1CCD885-C1EB-3A48-B8A0-CC1F23EEB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</p:spTree>
    <p:extLst>
      <p:ext uri="{BB962C8B-B14F-4D97-AF65-F5344CB8AC3E}">
        <p14:creationId xmlns:p14="http://schemas.microsoft.com/office/powerpoint/2010/main" val="1562306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traštė_Tekstas_Foto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FB2BAA7-03FA-7D45-B48B-16E2EB979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6000" y="1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66AC166F-BD2D-6D49-902E-EA2D168F6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1CCD885-C1EB-3A48-B8A0-CC1F23EEB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</p:spTree>
    <p:extLst>
      <p:ext uri="{BB962C8B-B14F-4D97-AF65-F5344CB8AC3E}">
        <p14:creationId xmlns:p14="http://schemas.microsoft.com/office/powerpoint/2010/main" val="3322117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to_Antraštė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95773F8-D068-1F4A-994E-CAA5A3CA9D7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342900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2F83555-CE96-6D4C-89FF-4953A94371F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</p:spTree>
    <p:extLst>
      <p:ext uri="{BB962C8B-B14F-4D97-AF65-F5344CB8AC3E}">
        <p14:creationId xmlns:p14="http://schemas.microsoft.com/office/powerpoint/2010/main" val="2989932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to_Antraštė_Keturios dal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95773F8-D068-1F4A-994E-CAA5A3CA9D7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342900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2F83555-CE96-6D4C-89FF-4953A94371F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</p:spTree>
    <p:extLst>
      <p:ext uri="{BB962C8B-B14F-4D97-AF65-F5344CB8AC3E}">
        <p14:creationId xmlns:p14="http://schemas.microsoft.com/office/powerpoint/2010/main" val="3899158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oto_Antraštė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95773F8-D068-1F4A-994E-CAA5A3CA9D7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3428998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2F83555-CE96-6D4C-89FF-4953A94371F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3429003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</p:spTree>
    <p:extLst>
      <p:ext uri="{BB962C8B-B14F-4D97-AF65-F5344CB8AC3E}">
        <p14:creationId xmlns:p14="http://schemas.microsoft.com/office/powerpoint/2010/main" val="419705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oto_Antraštė_Keturios dal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95773F8-D068-1F4A-994E-CAA5A3CA9D7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3428998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2F83555-CE96-6D4C-89FF-4953A94371F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3429003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 dirty="0"/>
          </a:p>
        </p:txBody>
      </p:sp>
    </p:spTree>
    <p:extLst>
      <p:ext uri="{BB962C8B-B14F-4D97-AF65-F5344CB8AC3E}">
        <p14:creationId xmlns:p14="http://schemas.microsoft.com/office/powerpoint/2010/main" val="1911777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a_Juodas fon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AB4F772-2275-974B-AA4E-C0D2280B6421}"/>
              </a:ext>
            </a:extLst>
          </p:cNvPr>
          <p:cNvSpPr txBox="1"/>
          <p:nvPr userDrawn="1"/>
        </p:nvSpPr>
        <p:spPr>
          <a:xfrm>
            <a:off x="1279922" y="403225"/>
            <a:ext cx="9632156" cy="198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 dirty="0">
              <a:solidFill>
                <a:srgbClr val="FFFF00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0" i="0" dirty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 diagramą: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1.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Nueikite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View panel </a:t>
            </a: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2.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 </a:t>
            </a: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3.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diagramą</a:t>
            </a:r>
            <a:b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4.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Uždarykite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Normal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5.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Įklijuokite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diagramą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savo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skaidrėje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endParaRPr lang="lt-LT" sz="1600" b="0" i="0" u="none" strike="noStrike" kern="1200" dirty="0">
              <a:solidFill>
                <a:schemeClr val="bg1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1" i="0" dirty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Visos kitos diagramos turi būti kuriamos remiantis esama stilistika.</a:t>
            </a:r>
            <a:endParaRPr lang="en-US" b="1" i="0" dirty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ECDE41A-C15A-8C4B-A12D-1A07B994E01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983733450"/>
              </p:ext>
            </p:extLst>
          </p:nvPr>
        </p:nvGraphicFramePr>
        <p:xfrm>
          <a:off x="988701" y="2767449"/>
          <a:ext cx="5988569" cy="38992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E189536-B994-8B44-9AD6-1E9B3000F88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81667176"/>
              </p:ext>
            </p:extLst>
          </p:nvPr>
        </p:nvGraphicFramePr>
        <p:xfrm>
          <a:off x="7585316" y="3085203"/>
          <a:ext cx="4006368" cy="358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2310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a_Baltas fo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22D502-64E2-DE49-8A59-1D3013B76A6E}"/>
              </a:ext>
            </a:extLst>
          </p:cNvPr>
          <p:cNvSpPr txBox="1"/>
          <p:nvPr userDrawn="1"/>
        </p:nvSpPr>
        <p:spPr>
          <a:xfrm>
            <a:off x="1279922" y="403225"/>
            <a:ext cx="9632156" cy="198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 dirty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0" i="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 diagramą: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1.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Nueikite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View panel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2.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3.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diagramą</a:t>
            </a:r>
            <a:b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4.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Uždarykite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Normal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5.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Įklijuokite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diagramą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savo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skaidrėje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endParaRPr lang="lt-LT" sz="1600" b="0" i="0" u="none" strike="noStrike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1" i="0" dirty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Visos kitos diagramos turi būti kuriamos remiantis esama stilistika.</a:t>
            </a:r>
            <a:endParaRPr lang="en-US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EE4845D-B78D-4A46-9763-62D727630EA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737979793"/>
              </p:ext>
            </p:extLst>
          </p:nvPr>
        </p:nvGraphicFramePr>
        <p:xfrm>
          <a:off x="988701" y="2763075"/>
          <a:ext cx="5995285" cy="3903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A0CB8A1-1010-EC4F-B6C5-EFB7467F76E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45475880"/>
              </p:ext>
            </p:extLst>
          </p:nvPr>
        </p:nvGraphicFramePr>
        <p:xfrm>
          <a:off x="7585316" y="3085203"/>
          <a:ext cx="4006368" cy="358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810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ntelė_Juodas fon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A4775A3-EB07-A141-A562-5216ADEA360A}"/>
              </a:ext>
            </a:extLst>
          </p:cNvPr>
          <p:cNvSpPr txBox="1"/>
          <p:nvPr userDrawn="1"/>
        </p:nvSpPr>
        <p:spPr>
          <a:xfrm>
            <a:off x="1102519" y="698500"/>
            <a:ext cx="9986962" cy="1532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 dirty="0">
              <a:solidFill>
                <a:srgbClr val="FFFF00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lt-LT" b="0" i="0" dirty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 lentelę: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1.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Nueikite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View panel </a:t>
            </a: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2.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 </a:t>
            </a: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3.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lentelę</a:t>
            </a:r>
            <a:b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4.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Uždarykite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Normal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1" i="0" u="none" strike="noStrike" kern="12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5.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Įklijuokite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lentelę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savo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skaidrėje</a:t>
            </a:r>
            <a:r>
              <a:rPr lang="en-GB" sz="1600" b="0" i="0" u="none" strike="noStrik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endParaRPr lang="lt-LT" sz="1600" b="0" i="0" u="none" strike="noStrike" kern="1200" dirty="0">
              <a:solidFill>
                <a:schemeClr val="bg1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DCF25F-588F-FA48-A5FB-9F332A23BA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31052889"/>
              </p:ext>
            </p:extLst>
          </p:nvPr>
        </p:nvGraphicFramePr>
        <p:xfrm>
          <a:off x="947737" y="2736570"/>
          <a:ext cx="10077314" cy="34750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463">
                  <a:extLst>
                    <a:ext uri="{9D8B030D-6E8A-4147-A177-3AD203B41FA5}">
                      <a16:colId xmlns:a16="http://schemas.microsoft.com/office/drawing/2014/main" val="553379762"/>
                    </a:ext>
                  </a:extLst>
                </a:gridCol>
                <a:gridCol w="5672183">
                  <a:extLst>
                    <a:ext uri="{9D8B030D-6E8A-4147-A177-3AD203B41FA5}">
                      <a16:colId xmlns:a16="http://schemas.microsoft.com/office/drawing/2014/main" val="2887563481"/>
                    </a:ext>
                  </a:extLst>
                </a:gridCol>
                <a:gridCol w="2632166">
                  <a:extLst>
                    <a:ext uri="{9D8B030D-6E8A-4147-A177-3AD203B41FA5}">
                      <a16:colId xmlns:a16="http://schemas.microsoft.com/office/drawing/2014/main" val="1877026651"/>
                    </a:ext>
                  </a:extLst>
                </a:gridCol>
                <a:gridCol w="1247502">
                  <a:extLst>
                    <a:ext uri="{9D8B030D-6E8A-4147-A177-3AD203B41FA5}">
                      <a16:colId xmlns:a16="http://schemas.microsoft.com/office/drawing/2014/main" val="2481374449"/>
                    </a:ext>
                  </a:extLst>
                </a:gridCol>
              </a:tblGrid>
              <a:tr h="695007"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Nr.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Magna aliquam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Enim ad minim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Iriure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261061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Aoreet dolore magna aliquam erat volutpat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Praesent luptatum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34893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Ut wisi enim ad minim veniam, quis nostrud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Dolore te feugait nul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109185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Exerci tation ullamcorper suscipit lobortis nisl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Augue duis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808814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Duis autem vel eum iriure dolor 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Te feugait nulla facilisi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44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0871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ntelė_Baltas fo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245F59-08C9-D44E-AAB0-68B4A977944C}"/>
              </a:ext>
            </a:extLst>
          </p:cNvPr>
          <p:cNvSpPr txBox="1"/>
          <p:nvPr userDrawn="1"/>
        </p:nvSpPr>
        <p:spPr>
          <a:xfrm>
            <a:off x="1102519" y="698500"/>
            <a:ext cx="9986962" cy="1532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 dirty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lt-LT" b="0" i="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 lentelę: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1.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Nueikite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View panel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2.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3.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lentelę</a:t>
            </a:r>
            <a:b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4.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Uždarykite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Normal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5.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Įklijuokite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lentelę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savo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skaidrėje</a:t>
            </a:r>
            <a:r>
              <a:rPr lang="en-GB" sz="16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endParaRPr lang="lt-LT" sz="1600" b="0" i="0" u="none" strike="noStrike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D29DF7-224A-0946-B65F-B6854B3ABD9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36463211"/>
              </p:ext>
            </p:extLst>
          </p:nvPr>
        </p:nvGraphicFramePr>
        <p:xfrm>
          <a:off x="947737" y="2736570"/>
          <a:ext cx="10279789" cy="34750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8366">
                  <a:extLst>
                    <a:ext uri="{9D8B030D-6E8A-4147-A177-3AD203B41FA5}">
                      <a16:colId xmlns:a16="http://schemas.microsoft.com/office/drawing/2014/main" val="55337976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887563481"/>
                    </a:ext>
                  </a:extLst>
                </a:gridCol>
                <a:gridCol w="2625634">
                  <a:extLst>
                    <a:ext uri="{9D8B030D-6E8A-4147-A177-3AD203B41FA5}">
                      <a16:colId xmlns:a16="http://schemas.microsoft.com/office/drawing/2014/main" val="1877026651"/>
                    </a:ext>
                  </a:extLst>
                </a:gridCol>
                <a:gridCol w="1456509">
                  <a:extLst>
                    <a:ext uri="{9D8B030D-6E8A-4147-A177-3AD203B41FA5}">
                      <a16:colId xmlns:a16="http://schemas.microsoft.com/office/drawing/2014/main" val="2481374449"/>
                    </a:ext>
                  </a:extLst>
                </a:gridCol>
              </a:tblGrid>
              <a:tr h="695007"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Nr.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Magna aliquam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Enim ad minim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Iriure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261061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Aoreet dolore magna aliquam erat volutpat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Praesent luptatum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34893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Ut wisi enim ad minim veniam, quis nostrud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Dolore te feugait nul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109185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Exerci tation ullamcorper suscipit lobortis nisl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Augue duis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808814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Duis autem vel eum iriure dolor 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Te feugait nulla facilisi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44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77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4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44" r:id="rId2"/>
    <p:sldLayoutId id="2147483745" r:id="rId3"/>
    <p:sldLayoutId id="2147483712" r:id="rId4"/>
    <p:sldLayoutId id="2147483714" r:id="rId5"/>
    <p:sldLayoutId id="2147483715" r:id="rId6"/>
    <p:sldLayoutId id="2147483716" r:id="rId7"/>
    <p:sldLayoutId id="2147483723" r:id="rId8"/>
    <p:sldLayoutId id="2147483737" r:id="rId9"/>
    <p:sldLayoutId id="2147483738" r:id="rId10"/>
    <p:sldLayoutId id="2147483717" r:id="rId11"/>
    <p:sldLayoutId id="2147483718" r:id="rId12"/>
    <p:sldLayoutId id="2147483719" r:id="rId13"/>
    <p:sldLayoutId id="2147483720" r:id="rId14"/>
    <p:sldLayoutId id="2147483677" r:id="rId15"/>
    <p:sldLayoutId id="2147483739" r:id="rId16"/>
    <p:sldLayoutId id="2147483743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55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42" r:id="rId7"/>
    <p:sldLayoutId id="2147483732" r:id="rId8"/>
    <p:sldLayoutId id="2147483731" r:id="rId9"/>
    <p:sldLayoutId id="2147483733" r:id="rId10"/>
    <p:sldLayoutId id="2147483734" r:id="rId11"/>
    <p:sldLayoutId id="2147483735" r:id="rId12"/>
    <p:sldLayoutId id="214748373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67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13388A-EE5E-F84E-96EC-2F74F012C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D94D4E1-C06D-704D-A98C-46703D721A44}"/>
              </a:ext>
            </a:extLst>
          </p:cNvPr>
          <p:cNvSpPr txBox="1">
            <a:spLocks/>
          </p:cNvSpPr>
          <p:nvPr/>
        </p:nvSpPr>
        <p:spPr>
          <a:xfrm>
            <a:off x="632355" y="5837238"/>
            <a:ext cx="1894535" cy="400050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Team MT1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F43B101-836F-7849-B640-6B542DBC814C}"/>
              </a:ext>
            </a:extLst>
          </p:cNvPr>
          <p:cNvSpPr txBox="1">
            <a:spLocks/>
          </p:cNvSpPr>
          <p:nvPr/>
        </p:nvSpPr>
        <p:spPr>
          <a:xfrm>
            <a:off x="632355" y="1952625"/>
            <a:ext cx="8854531" cy="3534526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Mobile Application for Landmark Identification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4EE182-6452-884A-B8BC-F4D515486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BF6A53A-64ED-D24E-9605-263180428E60}"/>
              </a:ext>
            </a:extLst>
          </p:cNvPr>
          <p:cNvSpPr txBox="1">
            <a:spLocks/>
          </p:cNvSpPr>
          <p:nvPr/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LT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9935D9-B675-2A4C-BC04-3CF96A0029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" r="14257" b="-238517"/>
          <a:stretch/>
        </p:blipFill>
        <p:spPr>
          <a:xfrm>
            <a:off x="0" y="958421"/>
            <a:ext cx="10453816" cy="1289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A5E0F2-68F2-B243-8DB3-90B38C236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3495" y="858795"/>
            <a:ext cx="1104900" cy="25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0E62F2-7952-BAE8-31E7-6BFCBA022551}"/>
              </a:ext>
            </a:extLst>
          </p:cNvPr>
          <p:cNvSpPr txBox="1"/>
          <p:nvPr/>
        </p:nvSpPr>
        <p:spPr>
          <a:xfrm>
            <a:off x="6213648" y="5676039"/>
            <a:ext cx="38050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Prof. dr. Dalia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Čalnerytė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Supervisor</a:t>
            </a:r>
            <a:endParaRPr lang="en-I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373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9072D4-1620-E84B-874C-91088151B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1" y="424809"/>
            <a:ext cx="862883" cy="98377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78D5CDE-EE26-4348-B09D-C90DC0AC6CAF}"/>
              </a:ext>
            </a:extLst>
          </p:cNvPr>
          <p:cNvSpPr txBox="1">
            <a:spLocks/>
          </p:cNvSpPr>
          <p:nvPr/>
        </p:nvSpPr>
        <p:spPr>
          <a:xfrm>
            <a:off x="2613221" y="1960510"/>
            <a:ext cx="6975279" cy="4276777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rgbClr val="FFFF00"/>
              </a:buClr>
              <a:buFont typeface="+mj-lt"/>
              <a:buAutoNum type="arabicPeriod"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96E5C24-BC6D-AE4C-B1DB-B4259391BFCF}"/>
              </a:ext>
            </a:extLst>
          </p:cNvPr>
          <p:cNvSpPr txBox="1">
            <a:spLocks/>
          </p:cNvSpPr>
          <p:nvPr/>
        </p:nvSpPr>
        <p:spPr>
          <a:xfrm>
            <a:off x="2613221" y="600737"/>
            <a:ext cx="8037512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68BDD-AB53-DF4E-A88F-96488FBA4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72" y="0"/>
            <a:ext cx="190500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B85795B-A405-1343-9A10-FBEB3F7BED44}"/>
              </a:ext>
            </a:extLst>
          </p:cNvPr>
          <p:cNvSpPr txBox="1">
            <a:spLocks/>
          </p:cNvSpPr>
          <p:nvPr/>
        </p:nvSpPr>
        <p:spPr>
          <a:xfrm rot="16200000">
            <a:off x="-1604416" y="3603891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LT" dirty="0">
              <a:solidFill>
                <a:schemeClr val="tx1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BFD8B21-52CF-FB47-A8E6-5D1FCFFBA475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2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7DC9A2-C87C-1C9D-3C9D-1B2C753A5866}"/>
              </a:ext>
            </a:extLst>
          </p:cNvPr>
          <p:cNvSpPr txBox="1"/>
          <p:nvPr/>
        </p:nvSpPr>
        <p:spPr>
          <a:xfrm>
            <a:off x="2163639" y="335112"/>
            <a:ext cx="98052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00"/>
                </a:solidFill>
                <a:cs typeface="Arial" panose="020B0604020202020204" pitchFamily="34" charset="0"/>
              </a:rPr>
              <a:t>What are we building and what was done</a:t>
            </a:r>
          </a:p>
          <a:p>
            <a:pPr>
              <a:buNone/>
            </a:pPr>
            <a:endParaRPr lang="en-US" b="1" dirty="0"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dirty="0">
                <a:cs typeface="Arial" panose="020B0604020202020204" pitchFamily="34" charset="0"/>
              </a:rPr>
              <a:t>A mobile-first AI system that can </a:t>
            </a:r>
            <a:r>
              <a:rPr lang="en-US" b="1" dirty="0">
                <a:cs typeface="Arial" panose="020B0604020202020204" pitchFamily="34" charset="0"/>
              </a:rPr>
              <a:t>recognize Lithuanian landmarks from a single smartphone photo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4DF2D3-05E9-36CE-F8DD-07E7E2082BAF}"/>
              </a:ext>
            </a:extLst>
          </p:cNvPr>
          <p:cNvSpPr txBox="1"/>
          <p:nvPr/>
        </p:nvSpPr>
        <p:spPr>
          <a:xfrm>
            <a:off x="2163639" y="2380094"/>
            <a:ext cx="6094638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00"/>
                </a:solidFill>
                <a:cs typeface="Arial" panose="020B0604020202020204" pitchFamily="34" charset="0"/>
              </a:rPr>
              <a:t>Key goals</a:t>
            </a:r>
          </a:p>
          <a:p>
            <a:pPr>
              <a:buNone/>
            </a:pPr>
            <a:endParaRPr lang="en-US" sz="2400" b="1" dirty="0">
              <a:solidFill>
                <a:srgbClr val="FFFF00"/>
              </a:solidFill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Lightweight model that runs fast to recognize landmarks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High accuracy on real photos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Full system: data → model → backend → mobile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Full ML pipeline integrated with PostgreSQL backend</a:t>
            </a:r>
          </a:p>
        </p:txBody>
      </p:sp>
    </p:spTree>
    <p:extLst>
      <p:ext uri="{BB962C8B-B14F-4D97-AF65-F5344CB8AC3E}">
        <p14:creationId xmlns:p14="http://schemas.microsoft.com/office/powerpoint/2010/main" val="128448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C2EA7-66F8-6793-C9F0-A60C3A8C2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B89A85-9311-A4F4-D6BA-7FB11DE45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1" y="424809"/>
            <a:ext cx="862883" cy="98377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57F32DCA-44B4-2E7E-AEA3-D01D87B791BD}"/>
              </a:ext>
            </a:extLst>
          </p:cNvPr>
          <p:cNvSpPr txBox="1">
            <a:spLocks/>
          </p:cNvSpPr>
          <p:nvPr/>
        </p:nvSpPr>
        <p:spPr>
          <a:xfrm>
            <a:off x="2613221" y="1960510"/>
            <a:ext cx="6975279" cy="4276777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rgbClr val="FFFF00"/>
              </a:buClr>
              <a:buFont typeface="+mj-lt"/>
              <a:buAutoNum type="arabicPeriod"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594F278-B677-DACD-1D82-0DA71163C075}"/>
              </a:ext>
            </a:extLst>
          </p:cNvPr>
          <p:cNvSpPr txBox="1">
            <a:spLocks/>
          </p:cNvSpPr>
          <p:nvPr/>
        </p:nvSpPr>
        <p:spPr>
          <a:xfrm>
            <a:off x="2613221" y="600737"/>
            <a:ext cx="8037512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3076B7-496B-F58B-FDFE-3E11C3BC0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72" y="0"/>
            <a:ext cx="190500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4ED54A4-9D1D-E24E-E26B-F12148948BE2}"/>
              </a:ext>
            </a:extLst>
          </p:cNvPr>
          <p:cNvSpPr txBox="1">
            <a:spLocks/>
          </p:cNvSpPr>
          <p:nvPr/>
        </p:nvSpPr>
        <p:spPr>
          <a:xfrm rot="16200000">
            <a:off x="-1604416" y="3603891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LT" dirty="0">
              <a:solidFill>
                <a:schemeClr val="tx1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50BFE93-31B4-85A7-90F4-214D21D7B07F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3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4EAD7-5518-8A34-6D05-1556C944381D}"/>
              </a:ext>
            </a:extLst>
          </p:cNvPr>
          <p:cNvSpPr txBox="1"/>
          <p:nvPr/>
        </p:nvSpPr>
        <p:spPr>
          <a:xfrm>
            <a:off x="1977799" y="193976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Data Pipeline (GLDv2 Lithuania)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D2B0E5-368C-A212-F5B6-6601194DC53D}"/>
              </a:ext>
            </a:extLst>
          </p:cNvPr>
          <p:cNvSpPr txBox="1"/>
          <p:nvPr/>
        </p:nvSpPr>
        <p:spPr>
          <a:xfrm>
            <a:off x="2096052" y="3280628"/>
            <a:ext cx="10211277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Source: Google Landmarks Dataset v2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Queried </a:t>
            </a:r>
            <a:r>
              <a:rPr lang="en-US" b="1" dirty="0"/>
              <a:t>Lithuanian landmarks only (</a:t>
            </a:r>
            <a:r>
              <a:rPr lang="en-US" dirty="0"/>
              <a:t>saved in /data/gldv2_lithuania.json)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Scripts implemented: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query_gld_v2.py</a:t>
            </a:r>
            <a:r>
              <a:rPr lang="en-US" dirty="0"/>
              <a:t> → get landmark IDs &amp; image counts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fetch_metadata.py</a:t>
            </a:r>
            <a:r>
              <a:rPr lang="en-US" dirty="0"/>
              <a:t> → download per-landmark metadata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create_split.py</a:t>
            </a:r>
            <a:r>
              <a:rPr lang="en-US" dirty="0"/>
              <a:t> → build train/</a:t>
            </a:r>
            <a:r>
              <a:rPr lang="en-US" dirty="0" err="1"/>
              <a:t>val</a:t>
            </a:r>
            <a:r>
              <a:rPr lang="en-US" dirty="0"/>
              <a:t>/test splits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gldv2_dataset.py</a:t>
            </a:r>
            <a:r>
              <a:rPr lang="en-US" dirty="0"/>
              <a:t> → efficient data loader with caching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83352B0-C0FF-026F-D3E2-94845EED6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6053" y="706752"/>
            <a:ext cx="6975279" cy="254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67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38D64-53FD-3547-26AF-45B5012D6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0FE814-CCBF-535B-5BC1-DAAF2B78D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1" y="424809"/>
            <a:ext cx="862883" cy="98377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8D8DC81-110E-6594-A568-2C63F4A960C0}"/>
              </a:ext>
            </a:extLst>
          </p:cNvPr>
          <p:cNvSpPr txBox="1">
            <a:spLocks/>
          </p:cNvSpPr>
          <p:nvPr/>
        </p:nvSpPr>
        <p:spPr>
          <a:xfrm>
            <a:off x="2613221" y="1960510"/>
            <a:ext cx="6975279" cy="4276777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rgbClr val="FFFF00"/>
              </a:buClr>
              <a:buFont typeface="+mj-lt"/>
              <a:buAutoNum type="arabicPeriod"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AFB4139-71CC-434C-CFBC-98B5E8958708}"/>
              </a:ext>
            </a:extLst>
          </p:cNvPr>
          <p:cNvSpPr txBox="1">
            <a:spLocks/>
          </p:cNvSpPr>
          <p:nvPr/>
        </p:nvSpPr>
        <p:spPr>
          <a:xfrm>
            <a:off x="2613221" y="600737"/>
            <a:ext cx="8037512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85746-C369-5764-4355-BBA8BFA22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72" y="0"/>
            <a:ext cx="190500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2DE2F47-6C89-E391-C454-9BFA4769EC09}"/>
              </a:ext>
            </a:extLst>
          </p:cNvPr>
          <p:cNvSpPr txBox="1">
            <a:spLocks/>
          </p:cNvSpPr>
          <p:nvPr/>
        </p:nvSpPr>
        <p:spPr>
          <a:xfrm rot="16200000">
            <a:off x="-1604416" y="3603891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LT" dirty="0">
              <a:solidFill>
                <a:schemeClr val="tx1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9AC3C40-B1DA-CB6A-E0B2-2ECB143D589E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4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E91BAE-1B1D-42E8-491E-00AB3AB2E081}"/>
              </a:ext>
            </a:extLst>
          </p:cNvPr>
          <p:cNvSpPr txBox="1"/>
          <p:nvPr/>
        </p:nvSpPr>
        <p:spPr>
          <a:xfrm>
            <a:off x="2096053" y="193976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Model Overview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9F0DF3-3643-A79A-8F83-566D7545873A}"/>
              </a:ext>
            </a:extLst>
          </p:cNvPr>
          <p:cNvSpPr txBox="1"/>
          <p:nvPr/>
        </p:nvSpPr>
        <p:spPr>
          <a:xfrm>
            <a:off x="8467202" y="5391236"/>
            <a:ext cx="321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1 Model overview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70FE4B-BC2E-1705-D8F6-7204B37A9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921" y="1301843"/>
            <a:ext cx="4951562" cy="389792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50F460-C6D4-DE1C-B5B4-5AEA998B1439}"/>
              </a:ext>
            </a:extLst>
          </p:cNvPr>
          <p:cNvSpPr txBox="1"/>
          <p:nvPr/>
        </p:nvSpPr>
        <p:spPr>
          <a:xfrm>
            <a:off x="1836972" y="1282480"/>
            <a:ext cx="495156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system uses a </a:t>
            </a:r>
            <a:r>
              <a:rPr lang="en-US" b="1" dirty="0"/>
              <a:t>MobileNetV3-Small backbone</a:t>
            </a:r>
            <a:r>
              <a:rPr lang="en-US" dirty="0"/>
              <a:t> pretrained on ImageNet.</a:t>
            </a:r>
            <a:br>
              <a:rPr lang="en-US" dirty="0"/>
            </a:br>
            <a:r>
              <a:rPr lang="en-US" dirty="0"/>
              <a:t>On top, we added a custom classification head: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GlobalAveragePooling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Dropout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Dense </a:t>
            </a:r>
            <a:r>
              <a:rPr lang="en-US" dirty="0" err="1"/>
              <a:t>softmax</a:t>
            </a:r>
            <a:r>
              <a:rPr lang="en-US" dirty="0"/>
              <a:t> classification layer</a:t>
            </a:r>
          </a:p>
          <a:p>
            <a:r>
              <a:rPr lang="en-US" dirty="0"/>
              <a:t>Additional elements: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augmentation: flip, zoom, brightness, contrast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Loss: categorical cross-entropy with label smoothing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 weights to handle dataset imbalance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Why MobileNetV3-Small?</a:t>
            </a:r>
            <a:br>
              <a:rPr lang="en-US" dirty="0"/>
            </a:br>
            <a:r>
              <a:rPr lang="en-US" dirty="0"/>
              <a:t>Lightweight, efficient, and optimized for mobile deployment (</a:t>
            </a:r>
            <a:r>
              <a:rPr lang="en-US" dirty="0" err="1"/>
              <a:t>TFLite</a:t>
            </a:r>
            <a:r>
              <a:rPr lang="en-US" dirty="0"/>
              <a:t>-friendly).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846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AF121-540A-F760-B442-D4EC9F1A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E5C560-48F9-31E8-0DB8-64E053D49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1" y="424809"/>
            <a:ext cx="862883" cy="98377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04570E9-9091-0427-F5DF-CD67DB956F3B}"/>
              </a:ext>
            </a:extLst>
          </p:cNvPr>
          <p:cNvSpPr txBox="1">
            <a:spLocks/>
          </p:cNvSpPr>
          <p:nvPr/>
        </p:nvSpPr>
        <p:spPr>
          <a:xfrm>
            <a:off x="2613221" y="1960510"/>
            <a:ext cx="6975279" cy="4276777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rgbClr val="FFFF00"/>
              </a:buClr>
              <a:buFont typeface="+mj-lt"/>
              <a:buAutoNum type="arabicPeriod"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AD3EC12-5A2D-DFB1-1E6E-895DDAA5E03E}"/>
              </a:ext>
            </a:extLst>
          </p:cNvPr>
          <p:cNvSpPr txBox="1">
            <a:spLocks/>
          </p:cNvSpPr>
          <p:nvPr/>
        </p:nvSpPr>
        <p:spPr>
          <a:xfrm>
            <a:off x="1920918" y="413655"/>
            <a:ext cx="8037512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+mn-lt"/>
              </a:rPr>
              <a:t>Model Training Configuration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8B9FC3-5B42-01E6-76F2-6E9D2A8D1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72" y="0"/>
            <a:ext cx="190500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D07FC70-3486-DA38-CF9B-845B643987F8}"/>
              </a:ext>
            </a:extLst>
          </p:cNvPr>
          <p:cNvSpPr txBox="1">
            <a:spLocks/>
          </p:cNvSpPr>
          <p:nvPr/>
        </p:nvSpPr>
        <p:spPr>
          <a:xfrm rot="16200000">
            <a:off x="-1604416" y="3603891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LT" dirty="0">
              <a:solidFill>
                <a:schemeClr val="tx1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6DEB33B-D7F5-CC03-AF92-7317B55DB7BB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5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1DA928-30DA-B437-6A1E-E442011A3285}"/>
              </a:ext>
            </a:extLst>
          </p:cNvPr>
          <p:cNvSpPr txBox="1"/>
          <p:nvPr/>
        </p:nvSpPr>
        <p:spPr>
          <a:xfrm>
            <a:off x="1920918" y="1166109"/>
            <a:ext cx="469989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Initial Training Configuration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Learning rate is set to 1e-3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 model (MobileNetV3Small) is frozen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the newly added dense layers are trained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epochs is set to 25</a:t>
            </a:r>
          </a:p>
          <a:p>
            <a:endParaRPr lang="en-US" dirty="0"/>
          </a:p>
          <a:p>
            <a:r>
              <a:rPr lang="en-IN" b="1" dirty="0"/>
              <a:t>Fine-tuning Phase</a:t>
            </a:r>
            <a:r>
              <a:rPr lang="en-I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a lower learning rate of 3e-6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Unfreezes the base model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Runs for 10 additional epochs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 learning rate reduction on plateau:</a:t>
            </a:r>
          </a:p>
          <a:p>
            <a:pPr lvl="1"/>
            <a:r>
              <a:rPr lang="en-US" dirty="0"/>
              <a:t>Reduces LR by 50% if no improvement for 2 epochs</a:t>
            </a:r>
          </a:p>
          <a:p>
            <a:pPr lvl="1"/>
            <a:r>
              <a:rPr lang="en-US" dirty="0"/>
              <a:t>Minimum LR: 1e-7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Uses </a:t>
            </a:r>
            <a:r>
              <a:rPr lang="en-US" dirty="0" err="1"/>
              <a:t>AdamW</a:t>
            </a:r>
            <a:r>
              <a:rPr lang="en-US" dirty="0"/>
              <a:t> optimizer for both initial training and fine-tuning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5C54A6-ED68-7FA0-6A16-32F7ED534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370" y="158232"/>
            <a:ext cx="4399998" cy="25006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DEB305-0FA6-266E-2C30-E446B8551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437" y="3414530"/>
            <a:ext cx="4211863" cy="29341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88B8068-A31B-AE06-9D1B-D1CB5B102929}"/>
              </a:ext>
            </a:extLst>
          </p:cNvPr>
          <p:cNvSpPr txBox="1"/>
          <p:nvPr/>
        </p:nvSpPr>
        <p:spPr>
          <a:xfrm>
            <a:off x="7649717" y="2826542"/>
            <a:ext cx="368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2 Model training configuration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89CD05-CB94-9723-DF57-61B6AD22C2D2}"/>
              </a:ext>
            </a:extLst>
          </p:cNvPr>
          <p:cNvSpPr txBox="1"/>
          <p:nvPr/>
        </p:nvSpPr>
        <p:spPr>
          <a:xfrm>
            <a:off x="7813665" y="6404904"/>
            <a:ext cx="3352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3 Fine Tuning</a:t>
            </a:r>
          </a:p>
        </p:txBody>
      </p:sp>
    </p:spTree>
    <p:extLst>
      <p:ext uri="{BB962C8B-B14F-4D97-AF65-F5344CB8AC3E}">
        <p14:creationId xmlns:p14="http://schemas.microsoft.com/office/powerpoint/2010/main" val="3649393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448B8-FF79-D0C0-57D7-5BF9EA48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ECDDFA-16E4-8EF5-3DBA-17BA38775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1" y="424809"/>
            <a:ext cx="862883" cy="98377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09F3980-15BD-8D6B-A47E-7D6817F1FA04}"/>
              </a:ext>
            </a:extLst>
          </p:cNvPr>
          <p:cNvSpPr txBox="1">
            <a:spLocks/>
          </p:cNvSpPr>
          <p:nvPr/>
        </p:nvSpPr>
        <p:spPr>
          <a:xfrm>
            <a:off x="2613221" y="2085667"/>
            <a:ext cx="6975279" cy="4276777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rgbClr val="FFFF00"/>
              </a:buClr>
              <a:buFont typeface="+mj-lt"/>
              <a:buAutoNum type="arabicPeriod"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A987F16-FF8D-AF38-51C0-61E80CDD2B79}"/>
              </a:ext>
            </a:extLst>
          </p:cNvPr>
          <p:cNvSpPr txBox="1">
            <a:spLocks/>
          </p:cNvSpPr>
          <p:nvPr/>
        </p:nvSpPr>
        <p:spPr>
          <a:xfrm>
            <a:off x="2613221" y="600737"/>
            <a:ext cx="8037512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8131D1-E22A-7FBA-AA3D-2F3F9A4A1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72" y="0"/>
            <a:ext cx="190500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7B1DD7D-179D-67FA-855E-32A63A02F9E3}"/>
              </a:ext>
            </a:extLst>
          </p:cNvPr>
          <p:cNvSpPr txBox="1">
            <a:spLocks/>
          </p:cNvSpPr>
          <p:nvPr/>
        </p:nvSpPr>
        <p:spPr>
          <a:xfrm rot="16200000">
            <a:off x="-1604416" y="3603891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LT" dirty="0">
              <a:solidFill>
                <a:schemeClr val="tx1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D8643FB-1324-57F2-0A76-85E79D1A76CF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6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71D92-EDCD-F696-8CB7-173125EF375E}"/>
              </a:ext>
            </a:extLst>
          </p:cNvPr>
          <p:cNvSpPr txBox="1"/>
          <p:nvPr/>
        </p:nvSpPr>
        <p:spPr>
          <a:xfrm>
            <a:off x="1959428" y="264723"/>
            <a:ext cx="6574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Exporting for Mobile Deployment (</a:t>
            </a:r>
            <a:r>
              <a:rPr lang="en-US" sz="24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TFLite</a:t>
            </a:r>
            <a:r>
              <a:rPr 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0CA6FD-6408-D6EE-2322-C96761C80ABD}"/>
              </a:ext>
            </a:extLst>
          </p:cNvPr>
          <p:cNvSpPr txBox="1"/>
          <p:nvPr/>
        </p:nvSpPr>
        <p:spPr>
          <a:xfrm>
            <a:off x="1959429" y="1511701"/>
            <a:ext cx="97232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TFLite</a:t>
            </a:r>
            <a:r>
              <a:rPr lang="en-US" b="1" dirty="0"/>
              <a:t> Models Generated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FP32 </a:t>
            </a:r>
            <a:r>
              <a:rPr lang="en-US" b="1" dirty="0" err="1"/>
              <a:t>TFLite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landmark_mnv3_fp32.tflite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INT8 (quantized) </a:t>
            </a:r>
            <a:r>
              <a:rPr lang="en-US" b="1" dirty="0" err="1"/>
              <a:t>TFLite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landmark_mnv3_int8.tflite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Backend receives image → resizes → calls Python → returns top-3 predictions</a:t>
            </a:r>
          </a:p>
          <a:p>
            <a:endParaRPr lang="en-US" dirty="0"/>
          </a:p>
          <a:p>
            <a:r>
              <a:rPr lang="en-US" dirty="0"/>
              <a:t>React Native app -&gt; Captures photo -&gt; Sends to backend -&gt; Displays landmark name + confidence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6636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B11F4-5337-8B05-1DC7-5F3B8BB62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4475B1-85CD-0090-F7E3-B28302BD7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1" y="424809"/>
            <a:ext cx="862883" cy="98377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5317F34-6090-9A3B-7070-490ED4598684}"/>
              </a:ext>
            </a:extLst>
          </p:cNvPr>
          <p:cNvSpPr txBox="1">
            <a:spLocks/>
          </p:cNvSpPr>
          <p:nvPr/>
        </p:nvSpPr>
        <p:spPr>
          <a:xfrm>
            <a:off x="2608360" y="1960510"/>
            <a:ext cx="6975279" cy="4276777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rgbClr val="FFFF00"/>
              </a:buClr>
              <a:buFont typeface="+mj-lt"/>
              <a:buAutoNum type="arabicPeriod"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F5867C6-AB47-C40E-5652-A572D9FA22AB}"/>
              </a:ext>
            </a:extLst>
          </p:cNvPr>
          <p:cNvSpPr txBox="1">
            <a:spLocks/>
          </p:cNvSpPr>
          <p:nvPr/>
        </p:nvSpPr>
        <p:spPr>
          <a:xfrm>
            <a:off x="2613221" y="600737"/>
            <a:ext cx="8037512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918D8-EF80-28C6-4164-267846C54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72" y="0"/>
            <a:ext cx="190500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75BF0E6-6A08-C3A5-C180-2090E8093E80}"/>
              </a:ext>
            </a:extLst>
          </p:cNvPr>
          <p:cNvSpPr txBox="1">
            <a:spLocks/>
          </p:cNvSpPr>
          <p:nvPr/>
        </p:nvSpPr>
        <p:spPr>
          <a:xfrm rot="16200000">
            <a:off x="-1604416" y="3603891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LT" dirty="0">
              <a:solidFill>
                <a:schemeClr val="tx1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BBBE743-24AA-03E7-686B-6DF8D9448EF4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7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BFA5AC-B485-C6EB-16CF-92434A77C099}"/>
              </a:ext>
            </a:extLst>
          </p:cNvPr>
          <p:cNvSpPr txBox="1"/>
          <p:nvPr/>
        </p:nvSpPr>
        <p:spPr>
          <a:xfrm>
            <a:off x="2026783" y="506202"/>
            <a:ext cx="9533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 - </a:t>
            </a:r>
            <a:r>
              <a:rPr lang="en-US" sz="2400" b="1" dirty="0">
                <a:solidFill>
                  <a:srgbClr val="FFFF00"/>
                </a:solidFill>
                <a:cs typeface="Arial" panose="020B0604020202020204" pitchFamily="34" charset="0"/>
              </a:rPr>
              <a:t>Backend API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9AC688-BC91-922C-D8E8-5AF15BFD6E2D}"/>
              </a:ext>
            </a:extLst>
          </p:cNvPr>
          <p:cNvSpPr txBox="1"/>
          <p:nvPr/>
        </p:nvSpPr>
        <p:spPr>
          <a:xfrm>
            <a:off x="2026783" y="3359071"/>
            <a:ext cx="466743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Architecture</a:t>
            </a:r>
            <a:endParaRPr lang="en-US" dirty="0">
              <a:solidFill>
                <a:srgbClr val="FFFF00"/>
              </a:solidFill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Exposes POST /</a:t>
            </a:r>
            <a:r>
              <a:rPr lang="en-US" dirty="0" err="1">
                <a:cs typeface="Arial" panose="020B0604020202020204" pitchFamily="34" charset="0"/>
              </a:rPr>
              <a:t>api</a:t>
            </a:r>
            <a:r>
              <a:rPr lang="en-US" dirty="0">
                <a:cs typeface="Arial" panose="020B0604020202020204" pitchFamily="34" charset="0"/>
              </a:rPr>
              <a:t>/prediction endpoint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Validates image format and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Calls Python </a:t>
            </a:r>
            <a:r>
              <a:rPr lang="en-US" dirty="0" err="1"/>
              <a:t>TFLite</a:t>
            </a:r>
            <a:r>
              <a:rPr lang="en-US" dirty="0"/>
              <a:t> process asynchronously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Returns JSON response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Top-3 labels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Confidence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Stores prediction history in 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Exposes /</a:t>
            </a:r>
            <a:r>
              <a:rPr lang="en-US" dirty="0" err="1">
                <a:cs typeface="Arial" panose="020B0604020202020204" pitchFamily="34" charset="0"/>
              </a:rPr>
              <a:t>api</a:t>
            </a:r>
            <a:r>
              <a:rPr lang="en-US" dirty="0">
                <a:cs typeface="Arial" panose="020B0604020202020204" pitchFamily="34" charset="0"/>
              </a:rPr>
              <a:t>/prediction/history endpoint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CEE67-932E-3814-E713-5C1FE6F5C7E8}"/>
              </a:ext>
            </a:extLst>
          </p:cNvPr>
          <p:cNvSpPr txBox="1"/>
          <p:nvPr/>
        </p:nvSpPr>
        <p:spPr>
          <a:xfrm>
            <a:off x="1934334" y="1110373"/>
            <a:ext cx="538954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Overview</a:t>
            </a:r>
            <a:endParaRPr lang="en-US" b="1" i="0" dirty="0">
              <a:solidFill>
                <a:srgbClr val="FFFF00"/>
              </a:solidFill>
              <a:effectLst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</a:rPr>
              <a:t>Framework</a:t>
            </a:r>
            <a:r>
              <a:rPr lang="en-US" b="0" i="0" dirty="0">
                <a:solidFill>
                  <a:srgbClr val="F0F6FC"/>
                </a:solidFill>
                <a:effectLst/>
              </a:rPr>
              <a:t>: ASP.NET Core 8.0 Web API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</a:rPr>
              <a:t>Model</a:t>
            </a:r>
            <a:r>
              <a:rPr lang="en-US" b="0" i="0" dirty="0">
                <a:solidFill>
                  <a:srgbClr val="F0F6FC"/>
                </a:solidFill>
                <a:effectLst/>
              </a:rPr>
              <a:t>: TensorFlow Lite INT8 (1.12 MB)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</a:rPr>
              <a:t>Image Processing</a:t>
            </a:r>
            <a:r>
              <a:rPr lang="en-US" b="0" i="0" dirty="0">
                <a:solidFill>
                  <a:srgbClr val="F0F6FC"/>
                </a:solidFill>
                <a:effectLst/>
              </a:rPr>
              <a:t>: </a:t>
            </a:r>
            <a:r>
              <a:rPr lang="en-US" b="0" i="0" dirty="0" err="1">
                <a:solidFill>
                  <a:srgbClr val="F0F6FC"/>
                </a:solidFill>
                <a:effectLst/>
              </a:rPr>
              <a:t>SixLabors.ImageSharp</a:t>
            </a:r>
            <a:endParaRPr lang="en-US" b="0" i="0" dirty="0">
              <a:solidFill>
                <a:srgbClr val="F0F6FC"/>
              </a:solidFill>
              <a:effectLst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</a:rPr>
              <a:t>Inference</a:t>
            </a:r>
            <a:r>
              <a:rPr lang="en-US" b="0" i="0" dirty="0">
                <a:solidFill>
                  <a:srgbClr val="F0F6FC"/>
                </a:solidFill>
                <a:effectLst/>
              </a:rPr>
              <a:t>: Python </a:t>
            </a:r>
            <a:r>
              <a:rPr lang="en-US" b="0" i="0" dirty="0" err="1">
                <a:solidFill>
                  <a:srgbClr val="F0F6FC"/>
                </a:solidFill>
                <a:effectLst/>
              </a:rPr>
              <a:t>TFLite</a:t>
            </a:r>
            <a:r>
              <a:rPr lang="en-US" b="0" i="0" dirty="0">
                <a:solidFill>
                  <a:srgbClr val="F0F6FC"/>
                </a:solidFill>
                <a:effectLst/>
              </a:rPr>
              <a:t> interpreter (subprocess bridge)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DE3A9F-21BA-229F-FE2F-E9393E4D3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909" y="2164401"/>
            <a:ext cx="4535540" cy="21997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2928B9-24BB-9770-711C-67221C731E29}"/>
              </a:ext>
            </a:extLst>
          </p:cNvPr>
          <p:cNvSpPr txBox="1"/>
          <p:nvPr/>
        </p:nvSpPr>
        <p:spPr>
          <a:xfrm>
            <a:off x="8735316" y="4568069"/>
            <a:ext cx="2627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4 Project structure</a:t>
            </a:r>
          </a:p>
        </p:txBody>
      </p:sp>
    </p:spTree>
    <p:extLst>
      <p:ext uri="{BB962C8B-B14F-4D97-AF65-F5344CB8AC3E}">
        <p14:creationId xmlns:p14="http://schemas.microsoft.com/office/powerpoint/2010/main" val="393396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C471F-7B45-85A7-F7E6-3B629F6C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B356D9-A0AA-A721-14ED-AB19E2423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1" y="424809"/>
            <a:ext cx="862883" cy="98377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5C8AAFC-ABBF-F7AC-94D0-FE78B5C82149}"/>
              </a:ext>
            </a:extLst>
          </p:cNvPr>
          <p:cNvSpPr txBox="1">
            <a:spLocks/>
          </p:cNvSpPr>
          <p:nvPr/>
        </p:nvSpPr>
        <p:spPr>
          <a:xfrm>
            <a:off x="2613221" y="1960510"/>
            <a:ext cx="6975279" cy="4276777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rgbClr val="FFFF00"/>
              </a:buClr>
              <a:buFont typeface="+mj-lt"/>
              <a:buAutoNum type="arabicPeriod"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0979622-1392-CDEE-F96F-5049BB1E347B}"/>
              </a:ext>
            </a:extLst>
          </p:cNvPr>
          <p:cNvSpPr txBox="1">
            <a:spLocks/>
          </p:cNvSpPr>
          <p:nvPr/>
        </p:nvSpPr>
        <p:spPr>
          <a:xfrm>
            <a:off x="2613221" y="600737"/>
            <a:ext cx="8037512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85903C-8C0A-6E25-6231-4D32CD0B6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72" y="0"/>
            <a:ext cx="190500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A395A8A-7D97-99B1-6004-2B507CC69194}"/>
              </a:ext>
            </a:extLst>
          </p:cNvPr>
          <p:cNvSpPr txBox="1">
            <a:spLocks/>
          </p:cNvSpPr>
          <p:nvPr/>
        </p:nvSpPr>
        <p:spPr>
          <a:xfrm rot="16200000">
            <a:off x="-1604416" y="3603891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LT" dirty="0">
              <a:solidFill>
                <a:schemeClr val="tx1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6DB5F20-3889-5A38-12F2-8BB33E42107B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8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7937FF-E3BA-266C-CB2D-005459D7B68B}"/>
              </a:ext>
            </a:extLst>
          </p:cNvPr>
          <p:cNvSpPr txBox="1"/>
          <p:nvPr/>
        </p:nvSpPr>
        <p:spPr>
          <a:xfrm>
            <a:off x="2026783" y="482213"/>
            <a:ext cx="9533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396B2F-90D0-4431-95B6-2F7106B37337}"/>
              </a:ext>
            </a:extLst>
          </p:cNvPr>
          <p:cNvSpPr txBox="1"/>
          <p:nvPr/>
        </p:nvSpPr>
        <p:spPr>
          <a:xfrm>
            <a:off x="2122337" y="1563183"/>
            <a:ext cx="3551842" cy="4342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cs typeface="Arial" panose="020B0604020202020204" pitchFamily="34" charset="0"/>
              </a:rPr>
              <a:t>Mobile App (React Native / Expo)</a:t>
            </a:r>
          </a:p>
          <a:p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Lets user pick or capture an image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Sends the image to backend via HTTP POST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Receives top-3 landmark predictions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Displays predictions &amp; confidence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Handles timeouts and API errors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AD2857D-2669-2688-7C9E-DB823179F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819" y="2065569"/>
            <a:ext cx="3122417" cy="19023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DC350C-E4E8-0169-4399-7AAF77AACE86}"/>
              </a:ext>
            </a:extLst>
          </p:cNvPr>
          <p:cNvSpPr txBox="1"/>
          <p:nvPr/>
        </p:nvSpPr>
        <p:spPr>
          <a:xfrm>
            <a:off x="9897697" y="5782928"/>
            <a:ext cx="20484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Figure 6 Current UI </a:t>
            </a:r>
          </a:p>
        </p:txBody>
      </p:sp>
      <p:pic>
        <p:nvPicPr>
          <p:cNvPr id="21" name="Picture 20" descr="A screenshot of a phone&#10;&#10;AI-generated content may be incorrect.">
            <a:extLst>
              <a:ext uri="{FF2B5EF4-FFF2-40B4-BE49-F238E27FC236}">
                <a16:creationId xmlns:a16="http://schemas.microsoft.com/office/drawing/2014/main" id="{4848B210-B019-4F22-207B-8B20C6A03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2566" y="258742"/>
            <a:ext cx="2544266" cy="551602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D966D47-D054-002C-50D5-0383060843F9}"/>
              </a:ext>
            </a:extLst>
          </p:cNvPr>
          <p:cNvSpPr txBox="1"/>
          <p:nvPr/>
        </p:nvSpPr>
        <p:spPr>
          <a:xfrm>
            <a:off x="6554870" y="4016403"/>
            <a:ext cx="2150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Figure 5 Project structure</a:t>
            </a:r>
          </a:p>
        </p:txBody>
      </p:sp>
    </p:spTree>
    <p:extLst>
      <p:ext uri="{BB962C8B-B14F-4D97-AF65-F5344CB8AC3E}">
        <p14:creationId xmlns:p14="http://schemas.microsoft.com/office/powerpoint/2010/main" val="2393518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1088D-E51A-0FF2-7D38-71C5EEBAC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4BD73F-7FA8-1184-3A1B-29A857A0A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1" y="424809"/>
            <a:ext cx="862883" cy="98377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78AADC7-973E-A2F4-4D4E-58A0282A90B4}"/>
              </a:ext>
            </a:extLst>
          </p:cNvPr>
          <p:cNvSpPr txBox="1">
            <a:spLocks/>
          </p:cNvSpPr>
          <p:nvPr/>
        </p:nvSpPr>
        <p:spPr>
          <a:xfrm>
            <a:off x="2613221" y="1960510"/>
            <a:ext cx="6975279" cy="4276777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rgbClr val="FFFF00"/>
              </a:buClr>
              <a:buFont typeface="+mj-lt"/>
              <a:buAutoNum type="arabicPeriod"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F13EFF-17B6-6727-4C11-8B2FED19D106}"/>
              </a:ext>
            </a:extLst>
          </p:cNvPr>
          <p:cNvSpPr txBox="1">
            <a:spLocks/>
          </p:cNvSpPr>
          <p:nvPr/>
        </p:nvSpPr>
        <p:spPr>
          <a:xfrm>
            <a:off x="2613221" y="600737"/>
            <a:ext cx="8037512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4926F-89F3-E0BB-DF36-9A72353EA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72" y="0"/>
            <a:ext cx="190500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51AA7E2-7948-D435-712C-FBF972AF5CC4}"/>
              </a:ext>
            </a:extLst>
          </p:cNvPr>
          <p:cNvSpPr txBox="1">
            <a:spLocks/>
          </p:cNvSpPr>
          <p:nvPr/>
        </p:nvSpPr>
        <p:spPr>
          <a:xfrm rot="16200000">
            <a:off x="-1604416" y="3603891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LT" dirty="0">
              <a:solidFill>
                <a:schemeClr val="tx1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86AC275-2217-1392-3484-3919626AE23B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9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080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8CF86-5098-F26A-38D2-D89E70DE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7CC41C-16A9-AF6C-363D-1D6C96697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1" y="424809"/>
            <a:ext cx="862883" cy="983770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8483011-82B9-DB2D-9075-3522602B17DE}"/>
              </a:ext>
            </a:extLst>
          </p:cNvPr>
          <p:cNvSpPr txBox="1">
            <a:spLocks/>
          </p:cNvSpPr>
          <p:nvPr/>
        </p:nvSpPr>
        <p:spPr>
          <a:xfrm>
            <a:off x="2613221" y="1960510"/>
            <a:ext cx="6975279" cy="4276777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rgbClr val="FFFF00"/>
              </a:buClr>
              <a:buFont typeface="+mj-lt"/>
              <a:buAutoNum type="arabicPeriod"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46FE77F-59BF-E18F-BAA9-E565ECC262B3}"/>
              </a:ext>
            </a:extLst>
          </p:cNvPr>
          <p:cNvSpPr txBox="1">
            <a:spLocks/>
          </p:cNvSpPr>
          <p:nvPr/>
        </p:nvSpPr>
        <p:spPr>
          <a:xfrm>
            <a:off x="2613221" y="600737"/>
            <a:ext cx="8037512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54769-9CA2-AE0C-45D9-82EC6837E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472" y="0"/>
            <a:ext cx="190500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9DECBFB-B859-E4F8-F707-F4B6A023A0C9}"/>
              </a:ext>
            </a:extLst>
          </p:cNvPr>
          <p:cNvSpPr txBox="1">
            <a:spLocks/>
          </p:cNvSpPr>
          <p:nvPr/>
        </p:nvSpPr>
        <p:spPr>
          <a:xfrm rot="16200000">
            <a:off x="-1604416" y="3603891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LT" dirty="0">
              <a:solidFill>
                <a:schemeClr val="tx1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26A5173-91D7-486A-96E0-E3959C5B9F65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10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4ED87F-1C6A-6742-A5E5-F6D344636C00}"/>
              </a:ext>
            </a:extLst>
          </p:cNvPr>
          <p:cNvSpPr txBox="1"/>
          <p:nvPr/>
        </p:nvSpPr>
        <p:spPr>
          <a:xfrm>
            <a:off x="2273238" y="1802076"/>
            <a:ext cx="83067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US" b="1" dirty="0"/>
              <a:t>Improve Model Accuracy</a:t>
            </a:r>
            <a:endParaRPr lang="en-US" dirty="0"/>
          </a:p>
          <a:p>
            <a:pPr>
              <a:buNone/>
            </a:pPr>
            <a:r>
              <a:rPr lang="en-US" b="1" dirty="0"/>
              <a:t>2)   Better Dataset </a:t>
            </a:r>
          </a:p>
          <a:p>
            <a:pPr>
              <a:buNone/>
            </a:pPr>
            <a:r>
              <a:rPr lang="en-US" b="1" dirty="0"/>
              <a:t>3) Integrate Wikipedia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Wikipedia API to fetch: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Short landmark descriptions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History summary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Official page link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Wikipedia link to API response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Display nicely in the frontend</a:t>
            </a:r>
          </a:p>
          <a:p>
            <a:pPr>
              <a:buNone/>
            </a:pPr>
            <a:r>
              <a:rPr lang="en-US" b="1" dirty="0"/>
              <a:t>4) Frontend Improvements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F2941-1F40-2D2A-B4CB-4284EF3A3E23}"/>
              </a:ext>
            </a:extLst>
          </p:cNvPr>
          <p:cNvSpPr txBox="1"/>
          <p:nvPr/>
        </p:nvSpPr>
        <p:spPr>
          <a:xfrm>
            <a:off x="2273238" y="455029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1874332801"/>
      </p:ext>
    </p:extLst>
  </p:cSld>
  <p:clrMapOvr>
    <a:masterClrMapping/>
  </p:clrMapOvr>
</p:sld>
</file>

<file path=ppt/theme/theme1.xml><?xml version="1.0" encoding="utf-8"?>
<a:theme xmlns:a="http://schemas.openxmlformats.org/drawingml/2006/main" name="TEKST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AGRAMA_LENTELĖ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2807</TotalTime>
  <Words>561</Words>
  <Application>Microsoft Office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-apple-system</vt:lpstr>
      <vt:lpstr>Inter Medium</vt:lpstr>
      <vt:lpstr>Inter Semi Bold</vt:lpstr>
      <vt:lpstr>Arial</vt:lpstr>
      <vt:lpstr>Calibri</vt:lpstr>
      <vt:lpstr>Courier New</vt:lpstr>
      <vt:lpstr>TEKSTAS</vt:lpstr>
      <vt:lpstr>FOTO</vt:lpstr>
      <vt:lpstr>DIAGRAMA_LENTELĖ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Santhosh P</cp:lastModifiedBy>
  <cp:revision>152</cp:revision>
  <dcterms:created xsi:type="dcterms:W3CDTF">2020-12-23T08:59:48Z</dcterms:created>
  <dcterms:modified xsi:type="dcterms:W3CDTF">2025-11-15T19:15:32Z</dcterms:modified>
</cp:coreProperties>
</file>